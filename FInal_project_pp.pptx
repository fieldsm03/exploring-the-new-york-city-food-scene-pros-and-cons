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5" r:id="rId4"/>
    <p:sldId id="261" r:id="rId5"/>
    <p:sldId id="259" r:id="rId6"/>
    <p:sldId id="258" r:id="rId7"/>
    <p:sldId id="269" r:id="rId8"/>
    <p:sldId id="262" r:id="rId9"/>
    <p:sldId id="263" r:id="rId10"/>
    <p:sldId id="271" r:id="rId11"/>
    <p:sldId id="270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55"/>
    <p:restoredTop sz="94754"/>
  </p:normalViewPr>
  <p:slideViewPr>
    <p:cSldViewPr snapToGrid="0">
      <p:cViewPr varScale="1">
        <p:scale>
          <a:sx n="102" d="100"/>
          <a:sy n="102" d="100"/>
        </p:scale>
        <p:origin x="11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D2DA6-8B6E-5A49-BCC6-812BC28EC1CA}" type="datetimeFigureOut">
              <a:rPr lang="en-US" smtClean="0"/>
              <a:t>11/19/22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F8EDFB-95D0-674C-BCBA-F9BC9995E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54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grade of cuisine percent average of each. There are 6 grades used in the dataset; </a:t>
            </a:r>
            <a:r>
              <a:rPr lang="en-US" b="0" i="0" dirty="0">
                <a:solidFill>
                  <a:srgbClr val="2C2C2C"/>
                </a:solidFill>
                <a:effectLst/>
                <a:latin typeface="Roboto" panose="020F0502020204030204" pitchFamily="34" charset="0"/>
              </a:rPr>
              <a:t>Grade associated with the inspection; • N = Not Yet Graded• Z = Grade Pending• P= Grade Pending issued on re-opening following an initial inspection that resulted in a closure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F8EDFB-95D0-674C-BCBA-F9BC9995E8B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07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1EDFA-1376-8C5A-EA48-5C5988863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7DAC0-66EE-570D-E1D0-9ECA6990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E7F03-F21D-5956-3445-D4A81CB8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4072A-D2CA-E742-8719-4960C1407015}" type="datetimeFigureOut">
              <a:rPr lang="en-US" smtClean="0"/>
              <a:t>11/19/22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4390A-41B0-D38A-A65E-CA497D1AC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518BF-006B-64B5-6AEC-5AE8123C6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733B-5301-2445-98EF-C71EE2991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11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79B2-2786-B275-E481-0A1CCE3F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46BA4-CA26-1376-FBA0-9ECC1956D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714C3-5F05-0AFE-C286-65A05CA0D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4072A-D2CA-E742-8719-4960C1407015}" type="datetimeFigureOut">
              <a:rPr lang="en-US" smtClean="0"/>
              <a:t>11/19/22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6685C-DB08-AC3E-615A-3EB0723E9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79ECD-AA7A-96E5-0059-562D0EFF6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733B-5301-2445-98EF-C71EE2991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887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929C0-A8DC-71E3-215E-9C556513E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3ADEC-DDC9-10E1-D631-E2F8D43E2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1485B-7848-0C04-A7CA-CD73CF8A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4072A-D2CA-E742-8719-4960C1407015}" type="datetimeFigureOut">
              <a:rPr lang="en-US" smtClean="0"/>
              <a:t>11/19/22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E8B3D-D814-67A8-1F31-864E8E3D5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BA6FA-114C-E6E2-ABA2-7F3D3D7F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733B-5301-2445-98EF-C71EE2991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62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5AFEE-A10A-0B32-7B2E-8DE0E6143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29921-DDF2-A8D4-1D67-2B809EAAB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450F0-5F00-7073-BD42-000F14026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0F0BD-CEF4-8645-7FB3-E72675456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4072A-D2CA-E742-8719-4960C1407015}" type="datetimeFigureOut">
              <a:rPr lang="en-US" smtClean="0"/>
              <a:t>11/19/22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20F4B-B3D7-63CD-48BB-5E6DFC25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D97FE-F134-06B9-AB4A-4D9C5380D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733B-5301-2445-98EF-C71EE2991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74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374C-B4D2-90D5-B6C7-95E3EC5D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E8BE7-AFFC-AD5B-E988-B200CF363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6690B-786E-A866-CAAC-2F986C7D9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26C63D-3286-3AB4-1626-340983B67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0F4CE5-D84E-2DF3-D81A-F78B61F75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58C346-4AB3-14E4-6FF5-5CD172A76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4072A-D2CA-E742-8719-4960C1407015}" type="datetimeFigureOut">
              <a:rPr lang="en-US" smtClean="0"/>
              <a:t>11/19/22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5D7991-CB9B-D0C8-4E02-D0E35A8F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5E4A06-58FD-2AB5-6973-2AFF05437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733B-5301-2445-98EF-C71EE2991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26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A3969-8A14-01C7-1272-90C46758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52F89B-2FA8-8463-9338-BBB2AF7E6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4072A-D2CA-E742-8719-4960C1407015}" type="datetimeFigureOut">
              <a:rPr lang="en-US" smtClean="0"/>
              <a:t>11/19/22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0301B8-F564-8935-7410-026AF92B6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8154B-B08B-D2B1-1B6B-EB319F388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733B-5301-2445-98EF-C71EE2991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75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2A55A2-46C6-6BD6-EB1F-DC0225EB4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4072A-D2CA-E742-8719-4960C1407015}" type="datetimeFigureOut">
              <a:rPr lang="en-US" smtClean="0"/>
              <a:t>11/19/22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C60F4-0AAC-EF13-12F2-EF354A5C0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FDE48-3D2D-A39F-1654-F64A3EA0C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733B-5301-2445-98EF-C71EE2991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96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5E61C-DD74-3B6C-0C47-44148C66F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57482-BFA9-7558-5E54-F9E18373E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14E93-F4A8-20F6-9413-01D774CCC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B8D2C-48C2-BEE9-3C5A-A1E2BC887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4072A-D2CA-E742-8719-4960C1407015}" type="datetimeFigureOut">
              <a:rPr lang="en-US" smtClean="0"/>
              <a:t>11/19/22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909E0-82D6-F27D-56DC-3D718B697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DF79F-599C-33A0-5653-9F735DC7A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733B-5301-2445-98EF-C71EE2991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363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7427-E388-5C25-5CA7-629AE6B03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FB90C5-F534-7437-7B56-072100A280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802D9-B48D-E7E5-9BBA-3C4C918E6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06C9E-5E1F-F9EB-86BD-4AED28F36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4072A-D2CA-E742-8719-4960C1407015}" type="datetimeFigureOut">
              <a:rPr lang="en-US" smtClean="0"/>
              <a:t>11/19/22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A74C7-9026-8741-426A-704B915D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EAE57-B1F4-CBBE-FACD-84FB3AD27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733B-5301-2445-98EF-C71EE2991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2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DBA75-02DD-24E6-953C-76F89EDF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86725-20C7-904B-62E5-E168ADE29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A22E3-7459-F92B-15C3-42C71C56F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4072A-D2CA-E742-8719-4960C1407015}" type="datetimeFigureOut">
              <a:rPr lang="en-US" smtClean="0"/>
              <a:t>11/19/22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9DFBD-90F0-1E36-8BAD-481E5944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6B0A2-AA90-5542-A6E1-5B9E8F37C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733B-5301-2445-98EF-C71EE2991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1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49048-1A5C-2F6F-0DD5-2DF2BDF1B8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B77F8-9517-5F7F-B892-430FD9B3E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BB421-BE54-D442-4293-E014CA18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4072A-D2CA-E742-8719-4960C1407015}" type="datetimeFigureOut">
              <a:rPr lang="en-US" smtClean="0"/>
              <a:t>11/19/22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5A4F5-5D7C-0624-2AF1-EC1347072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A36B2-DA9D-63F5-4E97-08BFFF2B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4733B-5301-2445-98EF-C71EE2991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59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70B31-F66B-9561-A2AE-3848DB5AE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4B46A-E33E-645F-BF68-7720F73ED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2C173-7579-548D-241D-9548FF147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4072A-D2CA-E742-8719-4960C1407015}" type="datetimeFigureOut">
              <a:rPr lang="en-US" smtClean="0"/>
              <a:t>11/19/22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E51C7-374B-810E-14B2-5190B6079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3EDE9-4B0C-503C-8873-1072BB746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4733B-5301-2445-98EF-C71EE29911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49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1DBBF1-3229-4BD9-B3D1-B4CA571E7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1587599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BC87C3E-1040-4EE4-9BDB-9537F7A1B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6" y="1712256"/>
            <a:ext cx="12188824" cy="34334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61FFDD-DD0F-F9B2-7CA0-C15FB7034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338" y="1875822"/>
            <a:ext cx="10601325" cy="1857374"/>
          </a:xfrm>
        </p:spPr>
        <p:txBody>
          <a:bodyPr>
            <a:normAutofit/>
          </a:bodyPr>
          <a:lstStyle/>
          <a:p>
            <a:r>
              <a:rPr lang="en-US" dirty="0"/>
              <a:t>Guide of NEW YORK City-</a:t>
            </a:r>
            <a:br>
              <a:rPr lang="en-US" dirty="0"/>
            </a:br>
            <a:r>
              <a:rPr lang="en-US" dirty="0"/>
              <a:t>some of the good and bad of food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CDD7D4-A06E-E2CA-880C-2F7364C2D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338" y="3941508"/>
            <a:ext cx="10601325" cy="736980"/>
          </a:xfrm>
        </p:spPr>
        <p:txBody>
          <a:bodyPr>
            <a:normAutofit/>
          </a:bodyPr>
          <a:lstStyle/>
          <a:p>
            <a:r>
              <a:rPr lang="en-US" dirty="0"/>
              <a:t>By Mitchell Fields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5CD5A0B-CDD7-427C-AA42-2EECFDFA1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 bwMode="white">
          <a:xfrm>
            <a:off x="0" y="5270402"/>
            <a:ext cx="1218882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54EEF01-190A-468F-A13C-CD98AC1C7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3998" y="5123318"/>
            <a:ext cx="9144001" cy="91168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9599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New York City - Wikipedia">
            <a:extLst>
              <a:ext uri="{FF2B5EF4-FFF2-40B4-BE49-F238E27FC236}">
                <a16:creationId xmlns:a16="http://schemas.microsoft.com/office/drawing/2014/main" id="{7134C482-A59B-4AF0-DDD5-ACC7ACC1D2B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50"/>
          <a:stretch/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6" name="Rectangle 103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D7898C-A5A4-148B-C863-0178B8B6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Over-View of the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0D509B-7916-3811-9F2B-D4A37D2EAB1B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Who does this data apply to?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Camis</a:t>
            </a:r>
            <a:r>
              <a:rPr lang="en-US" sz="2000" dirty="0"/>
              <a:t>, DBA, BORO, BUILDING, STREET, ZIPCODE, PHONE, CUISINE DESCRIPTION, INSPECTION DATE, ACTION, VIOLATION CODE, VIOLATION DESCRIPTION, CRITICAL FLAG, SCORE, GRADE, GRADE DATE, RECORD DATE, INSPECTION TYPE, LATITUDE, LONGITUDE,  COMMUNITY BOARD, COUNCIL DISTRICT, CENSUS TRACT, BIN, BBL, NTA</a:t>
            </a:r>
          </a:p>
        </p:txBody>
      </p:sp>
    </p:spTree>
    <p:extLst>
      <p:ext uri="{BB962C8B-B14F-4D97-AF65-F5344CB8AC3E}">
        <p14:creationId xmlns:p14="http://schemas.microsoft.com/office/powerpoint/2010/main" val="3338531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2994-B2CA-40A2-7BB8-9B85A760E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important about the Dataset?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42DB3-6EF7-E18A-1D3B-3FDBE834C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STREET, ZIPCODE, PHONE, CUISINE DESCRIPTION, VIOLATIO,</a:t>
            </a:r>
            <a:r>
              <a:rPr lang="en-US" sz="2800" dirty="0"/>
              <a:t> GRADE,</a:t>
            </a:r>
            <a:r>
              <a:rPr lang="en-US" dirty="0"/>
              <a:t> DESCRIPTION, CRITICAL FLAG, GRADELATITUDE, LONGITUDE,  COMMUNITY BOARD</a:t>
            </a:r>
          </a:p>
          <a:p>
            <a:endParaRPr lang="en-US" dirty="0"/>
          </a:p>
          <a:p>
            <a:r>
              <a:rPr lang="en-US" dirty="0"/>
              <a:t>Grading system: grade A, grade B, Grade C, Grade N, Grade P, Grade Z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777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C7CA5A-F329-92E9-FCCC-9E30197EEB32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Size of the  data</a:t>
            </a:r>
          </a:p>
        </p:txBody>
      </p:sp>
      <p:pic>
        <p:nvPicPr>
          <p:cNvPr id="3" name="slide3" descr="count of grades in each zipcode">
            <a:extLst>
              <a:ext uri="{FF2B5EF4-FFF2-40B4-BE49-F238E27FC236}">
                <a16:creationId xmlns:a16="http://schemas.microsoft.com/office/drawing/2014/main" id="{8A5AAA77-A9CB-4587-A1D7-390BC5D93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706" y="643466"/>
            <a:ext cx="4645919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78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2" descr="grade of cuisine">
            <a:extLst>
              <a:ext uri="{FF2B5EF4-FFF2-40B4-BE49-F238E27FC236}">
                <a16:creationId xmlns:a16="http://schemas.microsoft.com/office/drawing/2014/main" id="{34A63F7B-4621-E0D1-7F31-8C99CCEF07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217593" y="355915"/>
            <a:ext cx="5878407" cy="5545670"/>
          </a:xfrm>
          <a:prstGeom prst="rect">
            <a:avLst/>
          </a:prstGeom>
        </p:spPr>
      </p:pic>
      <p:pic>
        <p:nvPicPr>
          <p:cNvPr id="2" name="slide2" descr="grade of cuisine">
            <a:extLst>
              <a:ext uri="{FF2B5EF4-FFF2-40B4-BE49-F238E27FC236}">
                <a16:creationId xmlns:a16="http://schemas.microsoft.com/office/drawing/2014/main" id="{FCF47F86-B868-40E0-A508-DDDB17251F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6146722" y="600501"/>
            <a:ext cx="6168879" cy="581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slide3" descr="critical flag of all cuisine ">
            <a:extLst>
              <a:ext uri="{FF2B5EF4-FFF2-40B4-BE49-F238E27FC236}">
                <a16:creationId xmlns:a16="http://schemas.microsoft.com/office/drawing/2014/main" id="{58B782F3-8E81-49BE-8588-76B1B0388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765977"/>
            <a:ext cx="10905066" cy="332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00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list of all A grade in NYC (2)">
            <a:extLst>
              <a:ext uri="{FF2B5EF4-FFF2-40B4-BE49-F238E27FC236}">
                <a16:creationId xmlns:a16="http://schemas.microsoft.com/office/drawing/2014/main" id="{2BD81428-CFDD-4C58-B78D-64842BA804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29" t="50000"/>
          <a:stretch/>
        </p:blipFill>
        <p:spPr>
          <a:xfrm>
            <a:off x="10383078" y="76200"/>
            <a:ext cx="1404385" cy="6705600"/>
          </a:xfrm>
          <a:prstGeom prst="rect">
            <a:avLst/>
          </a:prstGeom>
        </p:spPr>
      </p:pic>
      <p:pic>
        <p:nvPicPr>
          <p:cNvPr id="3" name="slide2" descr="list of all A grade in NYC (2)">
            <a:extLst>
              <a:ext uri="{FF2B5EF4-FFF2-40B4-BE49-F238E27FC236}">
                <a16:creationId xmlns:a16="http://schemas.microsoft.com/office/drawing/2014/main" id="{BBB43653-BD9C-A736-A16C-572FBCC047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29" b="52222"/>
          <a:stretch/>
        </p:blipFill>
        <p:spPr>
          <a:xfrm>
            <a:off x="8925338" y="76200"/>
            <a:ext cx="1404385" cy="6705600"/>
          </a:xfrm>
          <a:prstGeom prst="rect">
            <a:avLst/>
          </a:prstGeom>
        </p:spPr>
      </p:pic>
      <p:pic>
        <p:nvPicPr>
          <p:cNvPr id="4" name="slide2" descr="list of all A grade in NYC (2)">
            <a:extLst>
              <a:ext uri="{FF2B5EF4-FFF2-40B4-BE49-F238E27FC236}">
                <a16:creationId xmlns:a16="http://schemas.microsoft.com/office/drawing/2014/main" id="{43CE0311-019D-DDA4-032F-8C19118C00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587" b="64831"/>
          <a:stretch/>
        </p:blipFill>
        <p:spPr>
          <a:xfrm>
            <a:off x="219007" y="152399"/>
            <a:ext cx="8711853" cy="618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731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slide4" descr="list of all A grade in NYC (2)">
            <a:extLst>
              <a:ext uri="{FF2B5EF4-FFF2-40B4-BE49-F238E27FC236}">
                <a16:creationId xmlns:a16="http://schemas.microsoft.com/office/drawing/2014/main" id="{E351B005-6170-01D5-FD8C-FDEFDFBFB2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6797" r="1" b="201"/>
          <a:stretch/>
        </p:blipFill>
        <p:spPr>
          <a:xfrm>
            <a:off x="4572433" y="331304"/>
            <a:ext cx="6448601" cy="6526696"/>
          </a:xfrm>
          <a:prstGeom prst="rect">
            <a:avLst/>
          </a:prstGeom>
        </p:spPr>
      </p:pic>
      <p:pic>
        <p:nvPicPr>
          <p:cNvPr id="4" name="slide4" descr="list of all A grade in NYC (2)">
            <a:extLst>
              <a:ext uri="{FF2B5EF4-FFF2-40B4-BE49-F238E27FC236}">
                <a16:creationId xmlns:a16="http://schemas.microsoft.com/office/drawing/2014/main" id="{6D1C906D-D851-4898-ACDC-48095309A0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06" r="1" b="36928"/>
          <a:stretch/>
        </p:blipFill>
        <p:spPr>
          <a:xfrm>
            <a:off x="8021507" y="0"/>
            <a:ext cx="1527251" cy="6858000"/>
          </a:xfrm>
          <a:prstGeom prst="rect">
            <a:avLst/>
          </a:prstGeom>
        </p:spPr>
      </p:pic>
      <p:pic>
        <p:nvPicPr>
          <p:cNvPr id="3" name="slide4" descr="list of all A grade in NYC (2)">
            <a:extLst>
              <a:ext uri="{FF2B5EF4-FFF2-40B4-BE49-F238E27FC236}">
                <a16:creationId xmlns:a16="http://schemas.microsoft.com/office/drawing/2014/main" id="{70D55266-04F9-2203-E23E-CEDF84883F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05" b="64444"/>
          <a:stretch/>
        </p:blipFill>
        <p:spPr>
          <a:xfrm>
            <a:off x="121935" y="679174"/>
            <a:ext cx="7779161" cy="549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14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Map&#10;&#10;Description automatically generated with medium confidence">
            <a:extLst>
              <a:ext uri="{FF2B5EF4-FFF2-40B4-BE49-F238E27FC236}">
                <a16:creationId xmlns:a16="http://schemas.microsoft.com/office/drawing/2014/main" id="{1CD33523-F797-9508-F37B-E65EBDFDCD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552" y="964383"/>
            <a:ext cx="9132895" cy="55710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C520EF-5D91-7488-4874-A78C5362995A}"/>
              </a:ext>
            </a:extLst>
          </p:cNvPr>
          <p:cNvSpPr txBox="1"/>
          <p:nvPr/>
        </p:nvSpPr>
        <p:spPr>
          <a:xfrm>
            <a:off x="2040835" y="318052"/>
            <a:ext cx="825556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Race, Diversity, and Ethnicity in New York, NY</a:t>
            </a:r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0690F-BE25-4D44-6442-43C6788227F6}"/>
              </a:ext>
            </a:extLst>
          </p:cNvPr>
          <p:cNvSpPr txBox="1"/>
          <p:nvPr/>
        </p:nvSpPr>
        <p:spPr>
          <a:xfrm>
            <a:off x="4339749" y="6457890"/>
            <a:ext cx="35125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 do not own this map</a:t>
            </a:r>
          </a:p>
          <a:p>
            <a:r>
              <a:rPr lang="en-US" sz="1000" dirty="0"/>
              <a:t>Used from: https://</a:t>
            </a:r>
            <a:r>
              <a:rPr lang="en-US" sz="1000" dirty="0" err="1"/>
              <a:t>bestneighborhood.org</a:t>
            </a:r>
            <a:r>
              <a:rPr lang="en-US" sz="1000" dirty="0"/>
              <a:t>/race-in-new-</a:t>
            </a:r>
            <a:r>
              <a:rPr lang="en-US" sz="1000" dirty="0" err="1"/>
              <a:t>york</a:t>
            </a:r>
            <a:r>
              <a:rPr lang="en-US" sz="1000" dirty="0"/>
              <a:t>-</a:t>
            </a:r>
            <a:r>
              <a:rPr lang="en-US" sz="1000" dirty="0" err="1"/>
              <a:t>ny</a:t>
            </a:r>
            <a:r>
              <a:rPr lang="en-US" sz="10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047900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4">
            <a:extLst>
              <a:ext uri="{FF2B5EF4-FFF2-40B4-BE49-F238E27FC236}">
                <a16:creationId xmlns:a16="http://schemas.microsoft.com/office/drawing/2014/main" id="{360CEFE3-0CCF-4B62-A8CE-41422FAA0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635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average of B/C">
            <a:extLst>
              <a:ext uri="{FF2B5EF4-FFF2-40B4-BE49-F238E27FC236}">
                <a16:creationId xmlns:a16="http://schemas.microsoft.com/office/drawing/2014/main" id="{B41BC8E6-EF6F-4789-AE4F-B00BE71B8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986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average of Z">
            <a:extLst>
              <a:ext uri="{FF2B5EF4-FFF2-40B4-BE49-F238E27FC236}">
                <a16:creationId xmlns:a16="http://schemas.microsoft.com/office/drawing/2014/main" id="{25DD80D2-271C-45ED-8E54-C98A2B2B9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4934"/>
            <a:ext cx="12192000" cy="534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476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average of P">
            <a:extLst>
              <a:ext uri="{FF2B5EF4-FFF2-40B4-BE49-F238E27FC236}">
                <a16:creationId xmlns:a16="http://schemas.microsoft.com/office/drawing/2014/main" id="{278F99ED-4EFD-4B95-8B49-F885190D1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419100"/>
            <a:ext cx="1183005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281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</TotalTime>
  <Words>228</Words>
  <Application>Microsoft Macintosh PowerPoint</Application>
  <PresentationFormat>Widescreen</PresentationFormat>
  <Paragraphs>20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Open Sans</vt:lpstr>
      <vt:lpstr>Roboto</vt:lpstr>
      <vt:lpstr>Office Theme</vt:lpstr>
      <vt:lpstr>Guide of NEW YORK City- some of the good and bad of food</vt:lpstr>
      <vt:lpstr>Over-View of the data</vt:lpstr>
      <vt:lpstr>What is important about the Dataset?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grades of NYC- some of the good and bad </dc:title>
  <dc:creator>Microsoft Office User</dc:creator>
  <cp:lastModifiedBy>Microsoft Office User</cp:lastModifiedBy>
  <cp:revision>5</cp:revision>
  <dcterms:created xsi:type="dcterms:W3CDTF">2022-11-20T01:22:25Z</dcterms:created>
  <dcterms:modified xsi:type="dcterms:W3CDTF">2022-11-20T23:47:11Z</dcterms:modified>
</cp:coreProperties>
</file>